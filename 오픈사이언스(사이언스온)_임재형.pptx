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84" r:id="rId2"/>
    <p:sldId id="276" r:id="rId3"/>
    <p:sldId id="277" r:id="rId4"/>
    <p:sldId id="278" r:id="rId5"/>
    <p:sldId id="281" r:id="rId6"/>
    <p:sldId id="279" r:id="rId7"/>
    <p:sldId id="280" r:id="rId8"/>
    <p:sldId id="282" r:id="rId9"/>
    <p:sldId id="285" r:id="rId10"/>
  </p:sldIdLst>
  <p:sldSz cx="9144000" cy="6858000" type="screen4x3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B45"/>
    <a:srgbClr val="D24726"/>
    <a:srgbClr val="404040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27" autoAdjust="0"/>
    <p:restoredTop sz="94241" autoAdjust="0"/>
  </p:normalViewPr>
  <p:slideViewPr>
    <p:cSldViewPr snapToGrid="0">
      <p:cViewPr varScale="1">
        <p:scale>
          <a:sx n="49" d="100"/>
          <a:sy n="49" d="100"/>
        </p:scale>
        <p:origin x="845" y="26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2025-11-20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2025-11-20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AE0C3-1960-8228-8713-EF6E12E39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E2E1C8-7B7A-AB9D-D587-A6F79D18A3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98B8EE-7AB4-4E56-4123-2BE5BF058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C42D02-63DF-A2BD-1A63-08AA9482A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0082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8376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58E57-91B6-7505-C1EC-105D99C6A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BC8690-12C4-5341-E197-CAC204A34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E83AA5-5B78-A53D-B463-E87E954C3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B8B881-DF0D-7805-797F-83F4CB3498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0217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EA4D3-0464-A176-1CAF-0DE9C6FA7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B23745-1D8E-5139-037C-5F342AFEB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CA3F38-BC38-E60A-7508-B55733F34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27DFBE-8F0E-9CC7-3639-39425C9E7A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4298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DE3AF-839A-ED21-A956-9CAF40779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5B7BE4-5DF9-0487-D159-F612DF5BA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29F932-8D97-A0BF-6F0F-FD0639C6E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F58D93-574D-B5DA-1FFE-84DD1BAC08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9430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85720-C012-1B07-B87E-F03A70EB7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4023B3-E43D-BD84-4230-E6F386D12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E472D6-ED18-18C6-5918-38CDF3F90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D866D6-2A5E-EF1C-1DB1-2A6B93170F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0235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2E8CF-BCFB-4D22-B7AE-F44FC4136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BCD9FA-248C-875D-63DF-0A96C9B84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7A0EB4-C94F-D068-51BF-0F879F338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B2877D-A92B-0E6F-DE3A-9008A4AA55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44965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6B059-8136-BF83-3973-ECC6F1ADA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090C27-D047-54C3-6D9F-AC8390BAC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5C4B13-DCD4-4FB0-BEAC-8E910E88A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05B15F-C5F7-7182-C094-223198BD9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5880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94215-C6FF-9786-050C-156025C8C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269396-E940-6133-E48B-1194C7EB1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182054-B4B3-DBBD-AC9B-7D677BA6A2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0D6E75-809B-1DF2-90D3-2189200747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4688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191214" y="262787"/>
            <a:ext cx="8761576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35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192027" y="265177"/>
            <a:ext cx="8762287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35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453326" y="1196392"/>
            <a:ext cx="8237349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390909" y="448056"/>
            <a:ext cx="5157839" cy="640080"/>
          </a:xfrm>
        </p:spPr>
        <p:txBody>
          <a:bodyPr rtlCol="0" anchor="b" anchorCtr="0">
            <a:normAutofit/>
          </a:bodyPr>
          <a:lstStyle>
            <a:lvl1pPr>
              <a:defRPr sz="21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404622" y="1435608"/>
            <a:ext cx="3312414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404622" y="6203959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471639F-8788-4297-9A5F-1B9BEF650CA6}" type="datetime1">
              <a:rPr lang="ko-KR" altLang="en-US" noProof="0" smtClean="0"/>
              <a:t>2025-11-20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486150" y="6203959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278945" y="6203959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191217" y="262787"/>
            <a:ext cx="8762287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35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191214" y="262791"/>
            <a:ext cx="8761576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35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0906" y="1536192"/>
            <a:ext cx="5157216" cy="640080"/>
          </a:xfrm>
        </p:spPr>
        <p:txBody>
          <a:bodyPr rtlCol="0">
            <a:normAutofit/>
          </a:bodyPr>
          <a:lstStyle>
            <a:lvl1pPr>
              <a:defRPr sz="27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404622" y="2560320"/>
            <a:ext cx="7084314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750"/>
              </a:spcBef>
              <a:spcAft>
                <a:spcPts val="9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192027" y="265177"/>
            <a:ext cx="8762287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35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216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04622" y="1435608"/>
            <a:ext cx="3312414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04622" y="6203959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4E270A7-C7C5-46C3-90C4-9EE9DF5AB575}" type="datetime1">
              <a:rPr lang="ko-KR" altLang="en-US" noProof="0" smtClean="0"/>
              <a:t>2025-11-20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486150" y="6203959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281928" y="6203959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453326" y="1196392"/>
            <a:ext cx="8237349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685783" rtl="0" eaLnBrk="1" latinLnBrk="1" hangingPunct="1">
        <a:spcBef>
          <a:spcPct val="0"/>
        </a:spcBef>
        <a:buNone/>
        <a:defRPr sz="21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685783" rtl="0" eaLnBrk="1" latinLnBrk="1" hangingPunct="1">
        <a:lnSpc>
          <a:spcPct val="150000"/>
        </a:lnSpc>
        <a:spcBef>
          <a:spcPts val="750"/>
        </a:spcBef>
        <a:spcAft>
          <a:spcPts val="900"/>
        </a:spcAft>
        <a:buFontTx/>
        <a:buNone/>
        <a:defRPr lang="en-US" sz="9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171446" indent="-171446" algn="l" defTabSz="685783" rtl="0" eaLnBrk="1" latinLnBrk="1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514337" indent="-171446" algn="l" defTabSz="685783" rtl="0" eaLnBrk="1" latinLnBrk="1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857228" indent="-171446" algn="l" defTabSz="685783" rtl="0" eaLnBrk="1" latinLnBrk="1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200120" indent="-171446" algn="l" defTabSz="685783" rtl="0" eaLnBrk="1" latinLnBrk="1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1543012" indent="-171446" algn="l" defTabSz="685783" rtl="0" eaLnBrk="1" latinLnBrk="1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85903" indent="-171446" algn="l" defTabSz="685783" rtl="0" eaLnBrk="1" latinLnBrk="1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228795" indent="-171446" algn="l" defTabSz="685783" rtl="0" eaLnBrk="1" latinLnBrk="1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2571686" indent="-171446" algn="l" defTabSz="685783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scienceon.kisti.re.kr/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ienceon.kisti.re.k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536C1-1ED8-8987-9816-9BCBA2977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개체 틀 9" descr="거품 클로즈업">
            <a:extLst>
              <a:ext uri="{FF2B5EF4-FFF2-40B4-BE49-F238E27FC236}">
                <a16:creationId xmlns:a16="http://schemas.microsoft.com/office/drawing/2014/main" id="{C369C860-E3BA-B8EF-FF32-6396D19F86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" r="83"/>
          <a:stretch/>
        </p:blipFill>
        <p:spPr>
          <a:xfrm>
            <a:off x="206829" y="4841870"/>
            <a:ext cx="8725136" cy="1731208"/>
          </a:xfrm>
          <a:prstGeom prst="rect">
            <a:avLst/>
          </a:prstGeom>
        </p:spPr>
      </p:pic>
      <p:sp>
        <p:nvSpPr>
          <p:cNvPr id="12" name="제목 7">
            <a:extLst>
              <a:ext uri="{FF2B5EF4-FFF2-40B4-BE49-F238E27FC236}">
                <a16:creationId xmlns:a16="http://schemas.microsoft.com/office/drawing/2014/main" id="{81CF2814-0683-49D9-EFDC-4A844B5AC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909" y="448056"/>
            <a:ext cx="5983387" cy="640080"/>
          </a:xfrm>
        </p:spPr>
        <p:txBody>
          <a:bodyPr rtlCol="0"/>
          <a:lstStyle/>
          <a:p>
            <a:pPr rtl="0"/>
            <a:r>
              <a:rPr lang="ko-KR" altLang="en-US" b="1" dirty="0">
                <a:cs typeface="Segoe UI Light" panose="020B0502040204020203" pitchFamily="34" charset="0"/>
              </a:rPr>
              <a:t>주제분야 데이터베이스 조사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EB8C22-A63D-9472-83DA-F7EC916A15E6}"/>
              </a:ext>
            </a:extLst>
          </p:cNvPr>
          <p:cNvSpPr txBox="1"/>
          <p:nvPr/>
        </p:nvSpPr>
        <p:spPr>
          <a:xfrm>
            <a:off x="390909" y="4015408"/>
            <a:ext cx="2862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학번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2025910129</a:t>
            </a:r>
          </a:p>
          <a:p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이름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임재형</a:t>
            </a:r>
          </a:p>
        </p:txBody>
      </p:sp>
      <p:sp>
        <p:nvSpPr>
          <p:cNvPr id="14" name="제목 7">
            <a:extLst>
              <a:ext uri="{FF2B5EF4-FFF2-40B4-BE49-F238E27FC236}">
                <a16:creationId xmlns:a16="http://schemas.microsoft.com/office/drawing/2014/main" id="{E072E753-3D9A-35B8-C6A0-AE0690E9939A}"/>
              </a:ext>
            </a:extLst>
          </p:cNvPr>
          <p:cNvSpPr txBox="1">
            <a:spLocks/>
          </p:cNvSpPr>
          <p:nvPr/>
        </p:nvSpPr>
        <p:spPr>
          <a:xfrm>
            <a:off x="6998535" y="448055"/>
            <a:ext cx="1933430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685783" rtl="0" eaLnBrk="1" latinLnBrk="1" hangingPunct="1">
              <a:spcBef>
                <a:spcPct val="0"/>
              </a:spcBef>
              <a:buNone/>
              <a:defRPr sz="2100" kern="12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b="1" dirty="0" err="1">
                <a:solidFill>
                  <a:srgbClr val="0070C0"/>
                </a:solidFill>
                <a:cs typeface="Segoe UI Light" panose="020B0502040204020203" pitchFamily="34" charset="0"/>
              </a:rPr>
              <a:t>오픈사이언스</a:t>
            </a:r>
            <a:endParaRPr lang="ko-KR" altLang="en-US" b="1" dirty="0">
              <a:solidFill>
                <a:srgbClr val="0070C0"/>
              </a:solidFill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AC113BB-6D8A-5B84-BB33-8B65BA65F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133917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ko-KR" b="1" dirty="0">
                <a:cs typeface="Segoe UI Light" panose="020B0502040204020203" pitchFamily="34" charset="0"/>
              </a:rPr>
              <a:t>Contents</a:t>
            </a:r>
            <a:endParaRPr lang="ko-KR" altLang="en-US" b="1" dirty="0">
              <a:cs typeface="Segoe UI Light" panose="020B0502040204020203" pitchFamily="34" charset="0"/>
            </a:endParaRPr>
          </a:p>
        </p:txBody>
      </p:sp>
      <p:pic>
        <p:nvPicPr>
          <p:cNvPr id="2" name="그림 개체 틀 7" descr="플라스크에서 염료를 확산시키는 피펫">
            <a:extLst>
              <a:ext uri="{FF2B5EF4-FFF2-40B4-BE49-F238E27FC236}">
                <a16:creationId xmlns:a16="http://schemas.microsoft.com/office/drawing/2014/main" id="{D1340123-E09E-C16A-6FC4-554105D17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" b="97"/>
          <a:stretch/>
        </p:blipFill>
        <p:spPr>
          <a:xfrm>
            <a:off x="4265680" y="2311659"/>
            <a:ext cx="4423412" cy="298323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03F0008-22E9-3739-BA84-0F3CD0EE8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417" y="588004"/>
            <a:ext cx="2007675" cy="5001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EF7013-6CD7-D8AA-CF97-40B79B5E1585}"/>
              </a:ext>
            </a:extLst>
          </p:cNvPr>
          <p:cNvSpPr txBox="1"/>
          <p:nvPr/>
        </p:nvSpPr>
        <p:spPr>
          <a:xfrm>
            <a:off x="401789" y="1213868"/>
            <a:ext cx="3679557" cy="2341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latinLnBrk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선정 배경</a:t>
            </a:r>
            <a:endParaRPr lang="en-US" altLang="ko-KR" sz="20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latinLnBrk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데이터베이스 소개</a:t>
            </a:r>
            <a:endParaRPr lang="en-US" altLang="ko-KR" sz="20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latinLnBrk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자료 검색 방법</a:t>
            </a:r>
            <a:endParaRPr lang="en-US" altLang="ko-KR" sz="20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latinLnBrk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소감 및 관련 사항</a:t>
            </a:r>
            <a:endParaRPr lang="en-US" altLang="ko-KR" sz="20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latinLnBrk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 자료 및 정보원</a:t>
            </a:r>
            <a:endParaRPr lang="en-US" altLang="ko-KR" sz="20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A4F67B-4673-5626-1823-123FFACBD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7693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4DE4F-3014-699C-6B23-FB323404D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C4959C0E-B3D2-77A2-A84E-7F7DBFF81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b="1" dirty="0">
                <a:cs typeface="Segoe UI Light" panose="020B0502040204020203" pitchFamily="34" charset="0"/>
              </a:rPr>
              <a:t>선정 배경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9D2BF4-27CB-2CC3-DC21-F42F08B6CAEB}"/>
              </a:ext>
            </a:extLst>
          </p:cNvPr>
          <p:cNvSpPr txBox="1"/>
          <p:nvPr/>
        </p:nvSpPr>
        <p:spPr>
          <a:xfrm>
            <a:off x="401789" y="1213868"/>
            <a:ext cx="7091831" cy="3264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latinLnBrk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데이터베이스 선정 배경</a:t>
            </a:r>
            <a:endParaRPr lang="en-US" altLang="ko-KR" sz="20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</a:t>
            </a:r>
            <a:r>
              <a:rPr lang="en-US" altLang="ko-KR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‘</a:t>
            </a:r>
            <a:r>
              <a:rPr lang="ko-KR" altLang="en-US" sz="20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오픈사이언스</a:t>
            </a:r>
            <a:r>
              <a:rPr lang="en-US" altLang="ko-KR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lang="ko-KR" altLang="en-US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목적에 충실한가</a:t>
            </a:r>
            <a:endParaRPr lang="en-US" altLang="ko-KR" sz="2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</a:t>
            </a:r>
            <a:r>
              <a:rPr lang="en-US" altLang="ko-KR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‘</a:t>
            </a:r>
            <a:r>
              <a:rPr lang="ko-KR" altLang="en-US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과학</a:t>
            </a:r>
            <a:r>
              <a:rPr lang="en-US" altLang="ko-KR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lang="ko-KR" altLang="en-US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기초 지식이 없는 검색자의 쉬운 접근</a:t>
            </a:r>
            <a:endParaRPr lang="en-US" altLang="ko-KR" sz="2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</a:t>
            </a:r>
            <a:r>
              <a:rPr lang="en-US" altLang="ko-KR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국가 기관 운영 데이터베이스</a:t>
            </a:r>
            <a:r>
              <a:rPr lang="en-US" altLang="ko-KR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공신력</a:t>
            </a:r>
            <a:r>
              <a:rPr lang="en-US" altLang="ko-KR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latinLnBrk="1">
              <a:lnSpc>
                <a:spcPct val="150000"/>
              </a:lnSpc>
            </a:pPr>
            <a:r>
              <a:rPr lang="en-US" altLang="ko-KR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</a:t>
            </a:r>
            <a:r>
              <a:rPr lang="en-US" altLang="ko-KR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‘</a:t>
            </a:r>
            <a:r>
              <a:rPr lang="ko-KR" altLang="en-US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과학</a:t>
            </a:r>
            <a:r>
              <a:rPr lang="en-US" altLang="ko-KR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관련 최신 트렌드 반영 여부</a:t>
            </a:r>
            <a:endParaRPr lang="en-US" altLang="ko-KR" sz="2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</a:t>
            </a:r>
            <a:r>
              <a:rPr lang="en-US" altLang="ko-KR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보호 신뢰</a:t>
            </a:r>
            <a:r>
              <a:rPr lang="en-US" altLang="ko-KR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수상 사이트</a:t>
            </a:r>
            <a:r>
              <a:rPr lang="en-US" altLang="ko-KR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latinLnBrk="1">
              <a:lnSpc>
                <a:spcPct val="150000"/>
              </a:lnSpc>
            </a:pPr>
            <a:r>
              <a:rPr lang="en-US" altLang="ko-KR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</a:t>
            </a:r>
            <a:r>
              <a:rPr lang="en-US" altLang="ko-KR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AI </a:t>
            </a:r>
            <a:r>
              <a:rPr lang="ko-KR" altLang="en-US" sz="2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가능</a:t>
            </a:r>
            <a:endParaRPr lang="en-US" altLang="ko-KR" sz="2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4171456-BAA7-F5DF-1EEA-B9EF7B7C8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417" y="588004"/>
            <a:ext cx="2007675" cy="50013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A006EFE-1F0B-2613-CF40-91B86D288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607" y="4444898"/>
            <a:ext cx="4695437" cy="2083216"/>
          </a:xfrm>
          <a:prstGeom prst="rect">
            <a:avLst/>
          </a:prstGeom>
          <a:ln>
            <a:solidFill>
              <a:srgbClr val="FF9B45"/>
            </a:solidFill>
          </a:ln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C1BEC2C-1169-F72F-F014-473172FBA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936625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B3D5C-B123-48F8-2F3A-C22C3E373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E1681F-BDEE-20B1-A99E-ABD4789E1667}"/>
              </a:ext>
            </a:extLst>
          </p:cNvPr>
          <p:cNvSpPr txBox="1"/>
          <p:nvPr/>
        </p:nvSpPr>
        <p:spPr>
          <a:xfrm>
            <a:off x="390904" y="1213068"/>
            <a:ext cx="7947553" cy="134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50000"/>
              </a:lnSpc>
            </a:pP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주체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명칭 및 목적</a:t>
            </a:r>
            <a:endParaRPr lang="en-US" altLang="ko-KR" sz="14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한국과학기술정보연구원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(KISTI)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비영리 과학 기술 정보 포털 사이언스 온     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https://scienceon.kisti.re.kr/</a:t>
            </a:r>
            <a:endParaRPr lang="en-US" altLang="ko-KR" sz="14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연구자 포함 국민 누구나 과학 지식의 열람 및 활용 가능한 서비스 제공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78DD7ED-52BD-BF7E-B37F-1C10CF327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417" y="588004"/>
            <a:ext cx="2007675" cy="500132"/>
          </a:xfrm>
          <a:prstGeom prst="rect">
            <a:avLst/>
          </a:prstGeom>
        </p:spPr>
      </p:pic>
      <p:sp>
        <p:nvSpPr>
          <p:cNvPr id="6" name="제목 7">
            <a:extLst>
              <a:ext uri="{FF2B5EF4-FFF2-40B4-BE49-F238E27FC236}">
                <a16:creationId xmlns:a16="http://schemas.microsoft.com/office/drawing/2014/main" id="{2315A6EE-886E-1D4D-C8BE-2C8B8B19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909" y="448056"/>
            <a:ext cx="5157839" cy="640080"/>
          </a:xfrm>
        </p:spPr>
        <p:txBody>
          <a:bodyPr rtlCol="0"/>
          <a:lstStyle/>
          <a:p>
            <a:pPr rtl="0"/>
            <a:r>
              <a:rPr lang="ko-KR" altLang="en-US" b="1" dirty="0">
                <a:cs typeface="Segoe UI Light" panose="020B0502040204020203" pitchFamily="34" charset="0"/>
              </a:rPr>
              <a:t>데이터베이스 소개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35392C-D2AD-0DA3-B944-130DAF1EC5F7}"/>
              </a:ext>
            </a:extLst>
          </p:cNvPr>
          <p:cNvSpPr txBox="1"/>
          <p:nvPr/>
        </p:nvSpPr>
        <p:spPr>
          <a:xfrm>
            <a:off x="390900" y="2475812"/>
            <a:ext cx="8208813" cy="1989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50000"/>
              </a:lnSpc>
            </a:pP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개요</a:t>
            </a:r>
            <a:endParaRPr lang="en-US" altLang="ko-KR" sz="14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지식 인프라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지능형 분석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논문 분석 및 요약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-AI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지원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주제 구성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검색 창 최신 트렌드 반영된 태그 검색어 제공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-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논문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특허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보고서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동향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연구자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기관 등 수요자 입장의 데이터베이스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금주의 과학기술뉴스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한국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미국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영국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중국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배치로 트렌드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흥미 유발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주차별 업데이트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1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차로 전반적 인프라 검색          분석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지원 순으로 활용도 제고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그래픽 13" descr="오른쪽 화살표 단색으로 채워진">
            <a:extLst>
              <a:ext uri="{FF2B5EF4-FFF2-40B4-BE49-F238E27FC236}">
                <a16:creationId xmlns:a16="http://schemas.microsoft.com/office/drawing/2014/main" id="{8FAD2290-DEEC-6B6B-6790-8648B52FA8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45974" y="4060380"/>
            <a:ext cx="500744" cy="500744"/>
          </a:xfrm>
          <a:prstGeom prst="rect">
            <a:avLst/>
          </a:prstGeom>
        </p:spPr>
      </p:pic>
      <p:pic>
        <p:nvPicPr>
          <p:cNvPr id="15" name="그래픽 14" descr="오른쪽 화살표 단색으로 채워진">
            <a:extLst>
              <a:ext uri="{FF2B5EF4-FFF2-40B4-BE49-F238E27FC236}">
                <a16:creationId xmlns:a16="http://schemas.microsoft.com/office/drawing/2014/main" id="{02ADD8EB-4D7D-D850-658F-181C07448D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60378" y="4049495"/>
            <a:ext cx="500744" cy="50074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6A84C1F4-3D52-2A5F-A5E0-3721DC80530B}"/>
              </a:ext>
            </a:extLst>
          </p:cNvPr>
          <p:cNvGrpSpPr/>
          <p:nvPr/>
        </p:nvGrpSpPr>
        <p:grpSpPr>
          <a:xfrm>
            <a:off x="565521" y="4486758"/>
            <a:ext cx="8007059" cy="2078453"/>
            <a:chOff x="445775" y="4421442"/>
            <a:chExt cx="8007059" cy="2078453"/>
          </a:xfrm>
        </p:grpSpPr>
        <p:sp>
          <p:nvSpPr>
            <p:cNvPr id="18" name="오각형 56">
              <a:extLst>
                <a:ext uri="{FF2B5EF4-FFF2-40B4-BE49-F238E27FC236}">
                  <a16:creationId xmlns:a16="http://schemas.microsoft.com/office/drawing/2014/main" id="{A1FB2E8E-28DF-9CC6-CDC9-D7D2EECD6418}"/>
                </a:ext>
              </a:extLst>
            </p:cNvPr>
            <p:cNvSpPr/>
            <p:nvPr/>
          </p:nvSpPr>
          <p:spPr>
            <a:xfrm>
              <a:off x="445776" y="4421442"/>
              <a:ext cx="2572421" cy="504000"/>
            </a:xfrm>
            <a:prstGeom prst="homePlate">
              <a:avLst>
                <a:gd name="adj" fmla="val 34836"/>
              </a:avLst>
            </a:prstGeom>
            <a:solidFill>
              <a:srgbClr val="B7B1A9"/>
            </a:solidFill>
            <a:ln w="9525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r>
                <a:rPr lang="ko-KR" altLang="en-US" sz="1200" kern="0" dirty="0">
                  <a:solidFill>
                    <a:srgbClr val="FFFFFF"/>
                  </a:solidFill>
                  <a:latin typeface="141208 스톤커뮤니케이션즈 L" panose="02020503020101020101" pitchFamily="18" charset="-127"/>
                  <a:ea typeface="141208 스톤커뮤니케이션즈 L" panose="02020503020101020101" pitchFamily="18" charset="-127"/>
                </a:rPr>
                <a:t>지식 인프라</a:t>
              </a:r>
            </a:p>
          </p:txBody>
        </p:sp>
        <p:sp>
          <p:nvSpPr>
            <p:cNvPr id="19" name="오각형 57">
              <a:extLst>
                <a:ext uri="{FF2B5EF4-FFF2-40B4-BE49-F238E27FC236}">
                  <a16:creationId xmlns:a16="http://schemas.microsoft.com/office/drawing/2014/main" id="{E506C637-9E53-283F-8467-3624E131BBC1}"/>
                </a:ext>
              </a:extLst>
            </p:cNvPr>
            <p:cNvSpPr/>
            <p:nvPr/>
          </p:nvSpPr>
          <p:spPr>
            <a:xfrm>
              <a:off x="3179073" y="4421442"/>
              <a:ext cx="2572421" cy="504000"/>
            </a:xfrm>
            <a:prstGeom prst="homePlate">
              <a:avLst>
                <a:gd name="adj" fmla="val 34836"/>
              </a:avLst>
            </a:prstGeom>
            <a:solidFill>
              <a:srgbClr val="B7B1A9">
                <a:lumMod val="50000"/>
              </a:srgbClr>
            </a:solidFill>
            <a:ln w="9525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r>
                <a:rPr lang="ko-KR" altLang="en-US" sz="1200" kern="0" dirty="0">
                  <a:solidFill>
                    <a:srgbClr val="FFFFFF"/>
                  </a:solidFill>
                  <a:latin typeface="141208 스톤커뮤니케이션즈 L" panose="02020503020101020101" pitchFamily="18" charset="-127"/>
                  <a:ea typeface="141208 스톤커뮤니케이션즈 L" panose="02020503020101020101" pitchFamily="18" charset="-127"/>
                </a:rPr>
                <a:t>지능형 분석</a:t>
              </a:r>
            </a:p>
          </p:txBody>
        </p:sp>
        <p:sp>
          <p:nvSpPr>
            <p:cNvPr id="20" name="오각형 58">
              <a:extLst>
                <a:ext uri="{FF2B5EF4-FFF2-40B4-BE49-F238E27FC236}">
                  <a16:creationId xmlns:a16="http://schemas.microsoft.com/office/drawing/2014/main" id="{421289A8-108D-EC90-4028-077CE5A29A5B}"/>
                </a:ext>
              </a:extLst>
            </p:cNvPr>
            <p:cNvSpPr/>
            <p:nvPr/>
          </p:nvSpPr>
          <p:spPr>
            <a:xfrm>
              <a:off x="5880413" y="4421442"/>
              <a:ext cx="2572421" cy="504000"/>
            </a:xfrm>
            <a:prstGeom prst="homePlate">
              <a:avLst>
                <a:gd name="adj" fmla="val 34835"/>
              </a:avLst>
            </a:prstGeom>
            <a:solidFill>
              <a:srgbClr val="C60C30"/>
            </a:solidFill>
            <a:ln w="9525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/>
              <a:r>
                <a:rPr lang="ko-KR" altLang="en-US" sz="1200" kern="0" dirty="0">
                  <a:solidFill>
                    <a:srgbClr val="FFFFFF"/>
                  </a:solidFill>
                  <a:latin typeface="141208 스톤커뮤니케이션즈 L" panose="02020503020101020101" pitchFamily="18" charset="-127"/>
                  <a:ea typeface="141208 스톤커뮤니케이션즈 L" panose="02020503020101020101" pitchFamily="18" charset="-127"/>
                </a:rPr>
                <a:t>고객 지원</a:t>
              </a:r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519156A4-0769-2944-F783-2F8948C129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5775" y="5061862"/>
              <a:ext cx="2572421" cy="1415142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A06B05ED-6CE2-CE64-EAED-B85F52A65D7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156859" y="5061861"/>
              <a:ext cx="2481941" cy="1415142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7178D210-C0F4-941F-19CB-DF8BD6470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880412" y="5061863"/>
              <a:ext cx="2572421" cy="1438032"/>
            </a:xfrm>
            <a:prstGeom prst="rect">
              <a:avLst/>
            </a:prstGeom>
          </p:spPr>
        </p:pic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2C1FA66-5383-C055-6286-96DACB7C1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443723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0C1D9-6F78-76ED-215E-F4F2E0CD5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C427E8-9915-1D5A-6BC9-D93FD26CE878}"/>
              </a:ext>
            </a:extLst>
          </p:cNvPr>
          <p:cNvSpPr txBox="1"/>
          <p:nvPr/>
        </p:nvSpPr>
        <p:spPr>
          <a:xfrm>
            <a:off x="390904" y="1213068"/>
            <a:ext cx="7947553" cy="134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50000"/>
              </a:lnSpc>
            </a:pP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화면 구성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가독성 좋은 이미지로 수요자 입장의 접근성 용이</a:t>
            </a:r>
            <a:endParaRPr lang="en-US" altLang="ko-KR" sz="14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가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Science ON TREND: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의료영상진단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딥러닝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진단보조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의료기술 등 트렌드 반영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국가별 과학기술뉴스 제공 및 이용자 의견 창구 개설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SNS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홍보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설문 및 댓글 이벤트 공지로 흥미 유발 및 관련 사이트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국가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언어별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제공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D4EC18-F706-234C-967A-C256C0B38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417" y="588004"/>
            <a:ext cx="2007675" cy="500132"/>
          </a:xfrm>
          <a:prstGeom prst="rect">
            <a:avLst/>
          </a:prstGeom>
        </p:spPr>
      </p:pic>
      <p:sp>
        <p:nvSpPr>
          <p:cNvPr id="6" name="제목 7">
            <a:extLst>
              <a:ext uri="{FF2B5EF4-FFF2-40B4-BE49-F238E27FC236}">
                <a16:creationId xmlns:a16="http://schemas.microsoft.com/office/drawing/2014/main" id="{DC7A869C-9E2F-503B-EB37-3347F5B9C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909" y="448056"/>
            <a:ext cx="5157839" cy="640080"/>
          </a:xfrm>
        </p:spPr>
        <p:txBody>
          <a:bodyPr rtlCol="0"/>
          <a:lstStyle/>
          <a:p>
            <a:pPr rtl="0"/>
            <a:r>
              <a:rPr lang="ko-KR" altLang="en-US" b="1" dirty="0">
                <a:cs typeface="Segoe UI Light" panose="020B0502040204020203" pitchFamily="34" charset="0"/>
              </a:rPr>
              <a:t>데이터베이스 소개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6FEC365-52E0-D88D-96AA-420C1BB9CF83}"/>
              </a:ext>
            </a:extLst>
          </p:cNvPr>
          <p:cNvGrpSpPr/>
          <p:nvPr/>
        </p:nvGrpSpPr>
        <p:grpSpPr>
          <a:xfrm>
            <a:off x="489857" y="2556449"/>
            <a:ext cx="8252353" cy="3985865"/>
            <a:chOff x="325589" y="2556449"/>
            <a:chExt cx="8492823" cy="398586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CB151CF-7D0D-ECA6-B52F-B97C256F6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5589" y="2556449"/>
              <a:ext cx="4137551" cy="3985865"/>
            </a:xfrm>
            <a:prstGeom prst="rect">
              <a:avLst/>
            </a:prstGeom>
            <a:ln>
              <a:solidFill>
                <a:srgbClr val="FF9B45"/>
              </a:solidFill>
            </a:ln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8E20C72-E523-0B7A-A32A-CCB0AD60C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06685" y="2556449"/>
              <a:ext cx="4299367" cy="2080865"/>
            </a:xfrm>
            <a:prstGeom prst="rect">
              <a:avLst/>
            </a:prstGeom>
            <a:ln>
              <a:solidFill>
                <a:srgbClr val="FF9B45"/>
              </a:solidFill>
            </a:ln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21D3BEE3-28C6-6530-7FE0-E88F4C022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06686" y="4692934"/>
              <a:ext cx="4311726" cy="1849380"/>
            </a:xfrm>
            <a:prstGeom prst="rect">
              <a:avLst/>
            </a:prstGeom>
            <a:ln>
              <a:solidFill>
                <a:srgbClr val="FF9B45"/>
              </a:solidFill>
            </a:ln>
          </p:spPr>
        </p:pic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173073B-7B20-A34D-A921-47CFA38FA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106604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E238D-143C-60B9-7278-2A83B7775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789B849-BCE2-01AB-6C3B-BAF765F35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417" y="588004"/>
            <a:ext cx="2007675" cy="500132"/>
          </a:xfrm>
          <a:prstGeom prst="rect">
            <a:avLst/>
          </a:prstGeom>
        </p:spPr>
      </p:pic>
      <p:sp>
        <p:nvSpPr>
          <p:cNvPr id="9" name="제목 7">
            <a:extLst>
              <a:ext uri="{FF2B5EF4-FFF2-40B4-BE49-F238E27FC236}">
                <a16:creationId xmlns:a16="http://schemas.microsoft.com/office/drawing/2014/main" id="{74426324-2E89-3C3E-66AF-AD6475EC4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909" y="448056"/>
            <a:ext cx="5157839" cy="640080"/>
          </a:xfrm>
        </p:spPr>
        <p:txBody>
          <a:bodyPr rtlCol="0"/>
          <a:lstStyle/>
          <a:p>
            <a:pPr rtl="0"/>
            <a:r>
              <a:rPr lang="ko-KR" altLang="en-US" b="1" dirty="0">
                <a:cs typeface="Segoe UI Light" panose="020B0502040204020203" pitchFamily="34" charset="0"/>
              </a:rPr>
              <a:t>자료 검색 방법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1CABD4-832F-9ADC-CBEA-0D864527A316}"/>
              </a:ext>
            </a:extLst>
          </p:cNvPr>
          <p:cNvSpPr txBox="1"/>
          <p:nvPr/>
        </p:nvSpPr>
        <p:spPr>
          <a:xfrm>
            <a:off x="390904" y="1213068"/>
            <a:ext cx="8089067" cy="2312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50000"/>
              </a:lnSpc>
            </a:pP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 검색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검색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-’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논문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항목 기준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전반적인 인프라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기초 지식 관점의 통합 검색 결과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제공   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나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검색 클릭 시 필터링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세분화 된 검색 서비스 제공으로 논문 및 저널 등 추가 확인 가능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검색어 확장 및 검색어 줄임으로 세분화 가능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예시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내용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‘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가상 화폐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입력 시 논문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(564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특허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(708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보고서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(46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동향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(116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연구자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(138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도출 및 더 보기 항목 생성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논문의 경우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PDF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형식의 원문 보기 가능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BE4F532-E6AD-22E3-6AE1-3F3C19A00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905" y="3565163"/>
            <a:ext cx="4028695" cy="2715893"/>
          </a:xfrm>
          <a:prstGeom prst="rect">
            <a:avLst/>
          </a:prstGeom>
          <a:ln>
            <a:solidFill>
              <a:srgbClr val="FF9B45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48D262C-7B54-C879-DE02-8CD3F6862A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1" y="3565163"/>
            <a:ext cx="4117092" cy="2715893"/>
          </a:xfrm>
          <a:prstGeom prst="rect">
            <a:avLst/>
          </a:prstGeom>
          <a:ln>
            <a:solidFill>
              <a:srgbClr val="FF9B45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D1CE3F3-A21A-7197-94D6-E1C8EE920344}"/>
              </a:ext>
            </a:extLst>
          </p:cNvPr>
          <p:cNvSpPr txBox="1"/>
          <p:nvPr/>
        </p:nvSpPr>
        <p:spPr>
          <a:xfrm>
            <a:off x="380018" y="6309388"/>
            <a:ext cx="36576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*</a:t>
            </a:r>
            <a:r>
              <a:rPr lang="ko-KR" altLang="en-US" sz="1000" b="1" dirty="0"/>
              <a:t>통합 검색 시 </a:t>
            </a:r>
            <a:r>
              <a:rPr lang="en-US" altLang="ko-KR" sz="1000" b="1" dirty="0"/>
              <a:t>1</a:t>
            </a:r>
            <a:r>
              <a:rPr lang="ko-KR" altLang="en-US" sz="1000" b="1" dirty="0"/>
              <a:t>차 도출 화면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논문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E16326-E60E-CD01-9DCE-83BD253E7A6F}"/>
              </a:ext>
            </a:extLst>
          </p:cNvPr>
          <p:cNvSpPr txBox="1"/>
          <p:nvPr/>
        </p:nvSpPr>
        <p:spPr>
          <a:xfrm>
            <a:off x="4560124" y="6309387"/>
            <a:ext cx="36576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*</a:t>
            </a:r>
            <a:r>
              <a:rPr lang="ko-KR" altLang="en-US" sz="1000" b="1" dirty="0"/>
              <a:t>논문</a:t>
            </a:r>
            <a:r>
              <a:rPr lang="en-US" altLang="ko-KR" sz="1000" b="1" dirty="0"/>
              <a:t> </a:t>
            </a:r>
            <a:r>
              <a:rPr lang="ko-KR" altLang="en-US" sz="1000" b="1" dirty="0"/>
              <a:t>통합 검색 후 더 보기 항목 클릭 시 도출 화면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88444C2-F854-E551-60A6-07E4F1621D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6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572023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ED23B-6632-10D7-58DF-B010545C0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09A297-02E7-65CE-5E7C-5F4565CB9A22}"/>
              </a:ext>
            </a:extLst>
          </p:cNvPr>
          <p:cNvSpPr txBox="1"/>
          <p:nvPr/>
        </p:nvSpPr>
        <p:spPr>
          <a:xfrm>
            <a:off x="390904" y="1213068"/>
            <a:ext cx="7947553" cy="1666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lnSpc>
                <a:spcPct val="150000"/>
              </a:lnSpc>
            </a:pP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 검색 후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2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검색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검색 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‘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논문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항목 기준 검색 결과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4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국내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해외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학위논문 상세 검색 가능  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나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 유형에 따라 사이언스 온 무료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자료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유료 자료 제공 및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초록 유무 검색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논문 제목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저자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발행 연도 입력 가능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도움말에 검색 연산자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예시 제공하여 정확도 증대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특허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보고서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동향 및 표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그림의 경우 국가별 구분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보고서 관리 기관 등 검색 세분화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E143205-EC90-4EE9-9112-22EF9E59C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417" y="588004"/>
            <a:ext cx="2007675" cy="500132"/>
          </a:xfrm>
          <a:prstGeom prst="rect">
            <a:avLst/>
          </a:prstGeom>
        </p:spPr>
      </p:pic>
      <p:sp>
        <p:nvSpPr>
          <p:cNvPr id="9" name="제목 7">
            <a:extLst>
              <a:ext uri="{FF2B5EF4-FFF2-40B4-BE49-F238E27FC236}">
                <a16:creationId xmlns:a16="http://schemas.microsoft.com/office/drawing/2014/main" id="{2F6AEADC-AA39-28F4-35AF-12351E81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909" y="448056"/>
            <a:ext cx="5157839" cy="640080"/>
          </a:xfrm>
        </p:spPr>
        <p:txBody>
          <a:bodyPr rtlCol="0"/>
          <a:lstStyle/>
          <a:p>
            <a:pPr rtl="0"/>
            <a:r>
              <a:rPr lang="ko-KR" altLang="en-US" b="1" dirty="0">
                <a:cs typeface="Segoe UI Light" panose="020B0502040204020203" pitchFamily="34" charset="0"/>
              </a:rPr>
              <a:t>자료 검색 방법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9A8A9CB-1871-E7F7-CFEF-D7CE25E8D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018" y="3010242"/>
            <a:ext cx="5476496" cy="521918"/>
          </a:xfrm>
          <a:prstGeom prst="rect">
            <a:avLst/>
          </a:prstGeom>
          <a:ln>
            <a:solidFill>
              <a:srgbClr val="FF9B45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B64A1C1-5545-2F9B-CEC2-1DD6F6775A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018" y="3652410"/>
            <a:ext cx="5041068" cy="2757533"/>
          </a:xfrm>
          <a:prstGeom prst="rect">
            <a:avLst/>
          </a:prstGeom>
          <a:ln>
            <a:solidFill>
              <a:srgbClr val="FF9B45"/>
            </a:solidFill>
          </a:ln>
        </p:spPr>
      </p:pic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AB02C389-6CAF-EEB2-0594-FA0D9E104A27}"/>
              </a:ext>
            </a:extLst>
          </p:cNvPr>
          <p:cNvSpPr/>
          <p:nvPr/>
        </p:nvSpPr>
        <p:spPr>
          <a:xfrm rot="16200000">
            <a:off x="5998028" y="4556014"/>
            <a:ext cx="337457" cy="4078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8BC348E-2C0E-92AB-3FA2-E0D05097E2A9}"/>
              </a:ext>
            </a:extLst>
          </p:cNvPr>
          <p:cNvGrpSpPr/>
          <p:nvPr/>
        </p:nvGrpSpPr>
        <p:grpSpPr>
          <a:xfrm>
            <a:off x="6528467" y="3007931"/>
            <a:ext cx="2460726" cy="1440160"/>
            <a:chOff x="4209805" y="3258307"/>
            <a:chExt cx="2460726" cy="144016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D5BBC05-51DF-28A5-0193-3BA643234D1D}"/>
                </a:ext>
              </a:extLst>
            </p:cNvPr>
            <p:cNvSpPr/>
            <p:nvPr/>
          </p:nvSpPr>
          <p:spPr>
            <a:xfrm>
              <a:off x="4213216" y="3258307"/>
              <a:ext cx="2231128" cy="1440160"/>
            </a:xfrm>
            <a:prstGeom prst="rect">
              <a:avLst/>
            </a:prstGeom>
            <a:solidFill>
              <a:schemeClr val="bg2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lvl="0" defTabSz="1004189"/>
              <a:r>
                <a:rPr lang="en-US" altLang="ko-KR" sz="1400" b="1" dirty="0">
                  <a:solidFill>
                    <a:schemeClr val="bg1"/>
                  </a:solidFill>
                  <a:latin typeface="141208 스톤커뮤니케이션즈 L" panose="02020503020101020101" pitchFamily="18" charset="-127"/>
                  <a:ea typeface="141208 스톤커뮤니케이션즈 L" panose="02020503020101020101" pitchFamily="18" charset="-127"/>
                </a:rPr>
                <a:t>   </a:t>
              </a:r>
              <a:endParaRPr lang="ko-KR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8A83D07-99B1-5DA5-BE91-6094404C1D34}"/>
                </a:ext>
              </a:extLst>
            </p:cNvPr>
            <p:cNvSpPr txBox="1"/>
            <p:nvPr/>
          </p:nvSpPr>
          <p:spPr>
            <a:xfrm>
              <a:off x="4209805" y="3378236"/>
              <a:ext cx="2460726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i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1400" b="1" i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 상세 검색어 </a:t>
              </a:r>
              <a:endParaRPr lang="en-US" altLang="ko-KR" sz="1400" b="1" i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400" b="1" i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‘</a:t>
              </a:r>
              <a:r>
                <a:rPr lang="ko-KR" altLang="en-US" sz="1400" b="1" i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미국 가상화폐</a:t>
              </a:r>
              <a:r>
                <a:rPr lang="en-US" altLang="ko-KR" sz="1400" b="1" i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’ </a:t>
              </a:r>
              <a:r>
                <a:rPr lang="ko-KR" altLang="en-US" sz="1400" b="1" i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 결과</a:t>
              </a:r>
              <a:endParaRPr lang="en-US" altLang="ko-KR" sz="1400" b="1" i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ko-KR" altLang="en-US" sz="1400" b="1" i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저널</a:t>
              </a:r>
              <a:r>
                <a:rPr lang="en-US" altLang="ko-KR" sz="1400" b="1" i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400" b="1" i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주제</a:t>
              </a:r>
              <a:r>
                <a:rPr lang="en-US" altLang="ko-KR" sz="1400" b="1" i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400" b="1" i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저자명</a:t>
              </a:r>
              <a:r>
                <a:rPr lang="en-US" altLang="ko-KR" sz="1400" b="1" i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400" b="1" i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언어</a:t>
              </a:r>
              <a:r>
                <a:rPr lang="en-US" altLang="ko-KR" sz="1400" b="1" i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</a:p>
            <a:p>
              <a:r>
                <a:rPr lang="ko-KR" altLang="en-US" sz="1400" b="1" i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연도</a:t>
              </a:r>
              <a:r>
                <a:rPr lang="en-US" altLang="ko-KR" sz="1400" b="1" i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400" b="1" i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발행국가 에 따른</a:t>
              </a:r>
              <a:endParaRPr lang="en-US" altLang="ko-KR" sz="1400" b="1" i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400" b="1" i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5</a:t>
              </a:r>
              <a:r>
                <a:rPr lang="ko-KR" altLang="en-US" sz="1400" b="1" i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 논문 도출</a:t>
              </a:r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2E4662DD-477A-0D15-BA2A-4629E5176F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1878" y="4591221"/>
            <a:ext cx="2231128" cy="1818722"/>
          </a:xfrm>
          <a:prstGeom prst="rect">
            <a:avLst/>
          </a:prstGeom>
          <a:ln>
            <a:solidFill>
              <a:srgbClr val="FF9B45"/>
            </a:solidFill>
          </a:ln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2666915-2279-F1C9-E2FA-D47036D03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7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300213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8FCC0-58AD-7350-9EC8-14C12B433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92C8E9E-9556-B79E-E9AA-D2A2726D0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417" y="588004"/>
            <a:ext cx="2007675" cy="500132"/>
          </a:xfrm>
          <a:prstGeom prst="rect">
            <a:avLst/>
          </a:prstGeom>
        </p:spPr>
      </p:pic>
      <p:sp>
        <p:nvSpPr>
          <p:cNvPr id="9" name="제목 7">
            <a:extLst>
              <a:ext uri="{FF2B5EF4-FFF2-40B4-BE49-F238E27FC236}">
                <a16:creationId xmlns:a16="http://schemas.microsoft.com/office/drawing/2014/main" id="{A329C65E-B7F3-0FA0-5ED2-5D6F6ACB4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909" y="448056"/>
            <a:ext cx="5157839" cy="640080"/>
          </a:xfrm>
        </p:spPr>
        <p:txBody>
          <a:bodyPr rtlCol="0"/>
          <a:lstStyle/>
          <a:p>
            <a:pPr rtl="0"/>
            <a:r>
              <a:rPr lang="ko-KR" altLang="en-US" b="1" dirty="0">
                <a:cs typeface="Segoe UI Light" panose="020B0502040204020203" pitchFamily="34" charset="0"/>
              </a:rPr>
              <a:t>소감 및 관련 사항</a:t>
            </a:r>
          </a:p>
        </p:txBody>
      </p:sp>
      <p:pic>
        <p:nvPicPr>
          <p:cNvPr id="2" name="그림 개체 틀 25" descr="실험실이나 과학 조사를 위해 페트리 접시에서 배양된 박테리아">
            <a:extLst>
              <a:ext uri="{FF2B5EF4-FFF2-40B4-BE49-F238E27FC236}">
                <a16:creationId xmlns:a16="http://schemas.microsoft.com/office/drawing/2014/main" id="{5EDAD5E5-D0D1-FE9D-7D92-B4AF30DB5FE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6150429" y="3793258"/>
            <a:ext cx="2712826" cy="2712826"/>
          </a:xfrm>
          <a:prstGeom prst="ellipse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342DEF-E1EF-CF90-8DDA-DF39B90E0546}"/>
              </a:ext>
            </a:extLst>
          </p:cNvPr>
          <p:cNvSpPr txBox="1"/>
          <p:nvPr/>
        </p:nvSpPr>
        <p:spPr>
          <a:xfrm>
            <a:off x="390904" y="1213068"/>
            <a:ext cx="8089067" cy="3928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과학 문외한 입장에서 기초 정보 및 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정보 입수에 편리하며 접근성 양호</a:t>
            </a:r>
            <a:endParaRPr lang="en-US" altLang="ko-KR" sz="14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 가입을 진행하지 않아도 검색 결과를 열람 가능  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나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별도의 추가 프로그램 설치 필요 없이 바로 원문 열람 가능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관심 분야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예시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가상 화폐와 관련된 미국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포함 주요국의 인프라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시장 동향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대한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기초 정보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화면의 뉴스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트렌드 등 전반적인 내용에 대한 파악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접근이 쉬움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‘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오픈 사이언스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목적 및 가치에 알맞은 데이터베이스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-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과학 비 전공자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 참여자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기업 소속의 정보 조사원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교사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사서 등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어느 누가 접근해도 특별한 제약 없이 이용 가능한 데이터 베이스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개인정보보호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단위 관리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인증 보유하여 신뢰도 높음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AI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제공으로 논문 요약이 가능하며 사용을 위해서는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 가입이 필요하여 록인 효과 추구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-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전문가가 아닌 이상 큰 필요는 없어 보여 불편함 존재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3CFD8D-FFCB-7A8C-99F2-AC78409E4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8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77787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7BC2-F28F-0E43-2ED8-AF217DAE9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9EC2707-5C45-5131-5746-893BE8E41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417" y="588004"/>
            <a:ext cx="2007675" cy="500132"/>
          </a:xfrm>
          <a:prstGeom prst="rect">
            <a:avLst/>
          </a:prstGeom>
        </p:spPr>
      </p:pic>
      <p:sp>
        <p:nvSpPr>
          <p:cNvPr id="9" name="제목 7">
            <a:extLst>
              <a:ext uri="{FF2B5EF4-FFF2-40B4-BE49-F238E27FC236}">
                <a16:creationId xmlns:a16="http://schemas.microsoft.com/office/drawing/2014/main" id="{A4C60DCB-3A21-642C-1713-9828FCC5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909" y="448056"/>
            <a:ext cx="5157839" cy="640080"/>
          </a:xfrm>
        </p:spPr>
        <p:txBody>
          <a:bodyPr rtlCol="0"/>
          <a:lstStyle/>
          <a:p>
            <a:pPr rtl="0"/>
            <a:r>
              <a:rPr lang="ko-KR" altLang="en-US" b="1" dirty="0">
                <a:cs typeface="Segoe UI Light" panose="020B0502040204020203" pitchFamily="34" charset="0"/>
              </a:rPr>
              <a:t>참고 자료 및 정보원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65B62-30F1-BD1F-B0C8-8301F925A296}"/>
              </a:ext>
            </a:extLst>
          </p:cNvPr>
          <p:cNvSpPr txBox="1"/>
          <p:nvPr/>
        </p:nvSpPr>
        <p:spPr>
          <a:xfrm>
            <a:off x="390904" y="1213068"/>
            <a:ext cx="8753096" cy="4575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구글 크롬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사이언스 온 홈페이지 활용</a:t>
            </a:r>
            <a:endParaRPr lang="en-US" altLang="ko-KR" sz="14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1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차로 검색 엔진 구글 크롬 활용하여 검색어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4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오픈사이언스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  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결과에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KISTI(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한국과학기술정보원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유네스코 관련 검색 결과 도출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2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차로 과학 관련 주제에 상대적으로 쉬워 보이는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유네스코 </a:t>
            </a:r>
            <a:r>
              <a:rPr lang="ko-KR" altLang="en-US" sz="14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오픈사이언스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 검색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검색 결과에 사이언스 온 도출되어 사이트 방문 후 조사함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사이언스 온 홈페이지 내 검색 내용 캡처 및 활용함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https://scienceon.kisti.re.kr/</a:t>
            </a:r>
            <a:endParaRPr lang="en-US" altLang="ko-KR" sz="14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정보 요약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구글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모드 활용 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-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한국과학기술정보연구원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(KISTI)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운영하는 과학기술 지식 인프라 통합 서비스 플랫폼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-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연구자 및 국민 누구나 과학 기술 정보와 연구 데이터를 활용할 수 있도록 지원하며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 개발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(R&amp;D)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활동의 전 주기를 돕는 것을 목표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-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 및 서비스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 검색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AI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 데이터 및 인프라 제공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맞춤형 정보 제공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-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연구자들이 개별 사이트를 일일이 찾아야 했던 불편함을 해소하고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필요한 모든 과학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 관련 인프라를 통합적으로 제공하여 연구 효율성을 극대화 기여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4FEBFEB-313C-7B66-DDE3-796992AB4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9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71778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{A0EF45CC-7D13-4F9F-B12F-7446A9C1607F}TF2989475c-5427-4edb-9ec1-00f4ce72165be756b0ce_win32-2ff1dad8fff0</Template>
  <TotalTime>368</TotalTime>
  <Words>950</Words>
  <Application>Microsoft Office PowerPoint</Application>
  <PresentationFormat>화면 슬라이드 쇼(4:3)</PresentationFormat>
  <Paragraphs>105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141208 스톤커뮤니케이션즈 L</vt:lpstr>
      <vt:lpstr>맑은 고딕</vt:lpstr>
      <vt:lpstr>Arial</vt:lpstr>
      <vt:lpstr>Segoe UI Light</vt:lpstr>
      <vt:lpstr>Wingdings</vt:lpstr>
      <vt:lpstr>WelcomeDoc</vt:lpstr>
      <vt:lpstr>주제분야 데이터베이스 조사</vt:lpstr>
      <vt:lpstr>Contents</vt:lpstr>
      <vt:lpstr>선정 배경</vt:lpstr>
      <vt:lpstr>데이터베이스 소개</vt:lpstr>
      <vt:lpstr>데이터베이스 소개</vt:lpstr>
      <vt:lpstr>자료 검색 방법</vt:lpstr>
      <vt:lpstr>자료 검색 방법</vt:lpstr>
      <vt:lpstr>소감 및 관련 사항</vt:lpstr>
      <vt:lpstr>참고 자료 및 정보원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Jaehyung Lim</dc:creator>
  <cp:keywords/>
  <cp:lastModifiedBy>Jaehyung Lim</cp:lastModifiedBy>
  <cp:revision>44</cp:revision>
  <dcterms:created xsi:type="dcterms:W3CDTF">2025-11-05T06:30:24Z</dcterms:created>
  <dcterms:modified xsi:type="dcterms:W3CDTF">2025-11-20T05:53:55Z</dcterms:modified>
  <cp:version/>
</cp:coreProperties>
</file>